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05930ff4441f8" /><Relationship Type="http://schemas.openxmlformats.org/officeDocument/2006/relationships/extended-properties" Target="/docProps/app.xml" Id="R4ce72a0c3fa84107" /><Relationship Type="http://schemas.openxmlformats.org/officeDocument/2006/relationships/officeDocument" Target="/ppt/presentation.xml" Id="R1bb8d54b6f324a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aae6ea82694242"/>
  </p:sldMasterIdLst>
  <p:notesMasterIdLst>
    <p:notesMasterId xmlns:r="http://schemas.openxmlformats.org/officeDocument/2006/relationships" r:id="R86a6a054f98944f6"/>
  </p:notesMasterIdLst>
  <p:sldIdLst>
    <p:sldId xmlns:r="http://schemas.openxmlformats.org/officeDocument/2006/relationships" id="256" r:id="R0fa1574e85614463"/>
    <p:sldId xmlns:r="http://schemas.openxmlformats.org/officeDocument/2006/relationships" id="257" r:id="R1895117d85ef484d"/>
    <p:sldId xmlns:r="http://schemas.openxmlformats.org/officeDocument/2006/relationships" id="258" r:id="Rb7aa93fc9d0544f5"/>
    <p:sldId xmlns:r="http://schemas.openxmlformats.org/officeDocument/2006/relationships" id="259" r:id="R41103bbd7237474c"/>
    <p:sldId xmlns:r="http://schemas.openxmlformats.org/officeDocument/2006/relationships" id="260" r:id="Rb129f78a124c4dda"/>
    <p:sldId xmlns:r="http://schemas.openxmlformats.org/officeDocument/2006/relationships" id="261" r:id="R01ff99defe74437b"/>
    <p:sldId xmlns:r="http://schemas.openxmlformats.org/officeDocument/2006/relationships" id="262" r:id="R9c6d0a1438034623"/>
    <p:sldId xmlns:r="http://schemas.openxmlformats.org/officeDocument/2006/relationships" id="263" r:id="Rfe391b2c949a461e"/>
    <p:sldId xmlns:r="http://schemas.openxmlformats.org/officeDocument/2006/relationships" id="264" r:id="R05d72fbd46b24065"/>
    <p:sldId xmlns:r="http://schemas.openxmlformats.org/officeDocument/2006/relationships" id="265" r:id="R87c78ccf01484a42"/>
    <p:sldId xmlns:r="http://schemas.openxmlformats.org/officeDocument/2006/relationships" id="266" r:id="Rd2515b16cd5b4abf"/>
    <p:sldId xmlns:r="http://schemas.openxmlformats.org/officeDocument/2006/relationships" id="267" r:id="Rc10a6c07850c4590"/>
    <p:sldId xmlns:r="http://schemas.openxmlformats.org/officeDocument/2006/relationships" id="268" r:id="Ra9f711896e904f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浅色样式 1 - 强调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04ee54b7b144f8" /><Relationship Type="http://schemas.openxmlformats.org/officeDocument/2006/relationships/slideMaster" Target="/ppt/slideMasters/slideMaster1.xml" Id="Ra8aae6ea82694242" /><Relationship Type="http://schemas.openxmlformats.org/officeDocument/2006/relationships/notesMaster" Target="/ppt/notesMasters/notesMaster1.xml" Id="R86a6a054f98944f6" /><Relationship Type="http://schemas.openxmlformats.org/officeDocument/2006/relationships/presProps" Target="/ppt/presProps.xml" Id="Rf20fd73c5efb4379" /><Relationship Type="http://schemas.openxmlformats.org/officeDocument/2006/relationships/tableStyles" Target="/ppt/tableStyles.xml" Id="R297195ae97474585" /><Relationship Type="http://schemas.openxmlformats.org/officeDocument/2006/relationships/slide" Target="/ppt/slides/slide1.xml" Id="R0fa1574e85614463" /><Relationship Type="http://schemas.openxmlformats.org/officeDocument/2006/relationships/slide" Target="/ppt/slides/slide2.xml" Id="R1895117d85ef484d" /><Relationship Type="http://schemas.openxmlformats.org/officeDocument/2006/relationships/slide" Target="/ppt/slides/slide3.xml" Id="Rb7aa93fc9d0544f5" /><Relationship Type="http://schemas.openxmlformats.org/officeDocument/2006/relationships/slide" Target="/ppt/slides/slide4.xml" Id="R41103bbd7237474c" /><Relationship Type="http://schemas.openxmlformats.org/officeDocument/2006/relationships/slide" Target="/ppt/slides/slide5.xml" Id="Rb129f78a124c4dda" /><Relationship Type="http://schemas.openxmlformats.org/officeDocument/2006/relationships/slide" Target="/ppt/slides/slide6.xml" Id="R01ff99defe74437b" /><Relationship Type="http://schemas.openxmlformats.org/officeDocument/2006/relationships/slide" Target="/ppt/slides/slide7.xml" Id="R9c6d0a1438034623" /><Relationship Type="http://schemas.openxmlformats.org/officeDocument/2006/relationships/slide" Target="/ppt/slides/slide8.xml" Id="Rfe391b2c949a461e" /><Relationship Type="http://schemas.openxmlformats.org/officeDocument/2006/relationships/slide" Target="/ppt/slides/slide9.xml" Id="R05d72fbd46b24065" /><Relationship Type="http://schemas.openxmlformats.org/officeDocument/2006/relationships/slide" Target="/ppt/slides/slide10.xml" Id="R87c78ccf01484a42" /><Relationship Type="http://schemas.openxmlformats.org/officeDocument/2006/relationships/slide" Target="/ppt/slides/slide11.xml" Id="Rd2515b16cd5b4abf" /><Relationship Type="http://schemas.openxmlformats.org/officeDocument/2006/relationships/slide" Target="/ppt/slides/slide12.xml" Id="Rc10a6c07850c4590" /><Relationship Type="http://schemas.openxmlformats.org/officeDocument/2006/relationships/slide" Target="/ppt/slides/slide13.xml" Id="Ra9f711896e904f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3dc6bd66ab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模板-宽屏16：10 - TEST">
  <a:themeElements>
    <a:clrScheme name="自定义 1">
      <a:dk1>
        <a:srgbClr val="000000"/>
      </a:dk1>
      <a:lt1>
        <a:sysClr val="window" lastClr="FFFFFF"/>
      </a:lt1>
      <a:dk2>
        <a:srgbClr val="000000"/>
      </a:dk2>
      <a:lt2>
        <a:srgbClr val="707276"/>
      </a:lt2>
      <a:accent1>
        <a:srgbClr val="FFE171"/>
      </a:accent1>
      <a:accent2>
        <a:srgbClr val="76E0A3"/>
      </a:accent2>
      <a:accent3>
        <a:srgbClr val="5CACE2"/>
      </a:accent3>
      <a:accent4>
        <a:srgbClr val="AD77C3"/>
      </a:accent4>
      <a:accent5>
        <a:srgbClr val="A2ABAC"/>
      </a:accent5>
      <a:accent6>
        <a:srgbClr val="000000"/>
      </a:accent6>
      <a:hlink>
        <a:srgbClr val="2487CA"/>
      </a:hlink>
      <a:folHlink>
        <a:srgbClr val="1BC7A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a3583223364e20" /><Relationship Type="http://schemas.openxmlformats.org/officeDocument/2006/relationships/notesMaster" Target="/ppt/notesMasters/notesMaster1.xml" Id="Rfd6e1498286544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94b4018e0d4cfb" /><Relationship Type="http://schemas.openxmlformats.org/officeDocument/2006/relationships/notesMaster" Target="/ppt/notesMasters/notesMaster1.xml" Id="Rb3291353baad4d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557e5ed5644d89" /><Relationship Type="http://schemas.openxmlformats.org/officeDocument/2006/relationships/notesMaster" Target="/ppt/notesMasters/notesMaster1.xml" Id="R435f3852320541f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3059c2d5654c66" /><Relationship Type="http://schemas.openxmlformats.org/officeDocument/2006/relationships/notesMaster" Target="/ppt/notesMasters/notesMaster1.xml" Id="R67944ac965f44c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d940e18b154163" /><Relationship Type="http://schemas.openxmlformats.org/officeDocument/2006/relationships/notesMaster" Target="/ppt/notesMasters/notesMaster1.xml" Id="R7c2ab4d91a8e4b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d7390cef974486" /><Relationship Type="http://schemas.openxmlformats.org/officeDocument/2006/relationships/notesMaster" Target="/ppt/notesMasters/notesMaster1.xml" Id="R208b02d55f8b42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42ef891ea148d4" /><Relationship Type="http://schemas.openxmlformats.org/officeDocument/2006/relationships/notesMaster" Target="/ppt/notesMasters/notesMaster1.xml" Id="Rc74311a0579f4c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4435da08604fee" /><Relationship Type="http://schemas.openxmlformats.org/officeDocument/2006/relationships/notesMaster" Target="/ppt/notesMasters/notesMaster1.xml" Id="Recf3d246bc034b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2a20b2aba24411" /><Relationship Type="http://schemas.openxmlformats.org/officeDocument/2006/relationships/notesMaster" Target="/ppt/notesMasters/notesMaster1.xml" Id="R3a4edd5d4f9347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e15f16106a49e9" /><Relationship Type="http://schemas.openxmlformats.org/officeDocument/2006/relationships/notesMaster" Target="/ppt/notesMasters/notesMaster1.xml" Id="R9c40e8c06bde43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94fb6a00c042b9" /><Relationship Type="http://schemas.openxmlformats.org/officeDocument/2006/relationships/notesMaster" Target="/ppt/notesMasters/notesMaster1.xml" Id="R8ad1277ddb2649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c6ec9f76694763" /><Relationship Type="http://schemas.openxmlformats.org/officeDocument/2006/relationships/notesMaster" Target="/ppt/notesMasters/notesMaster1.xml" Id="Rdd1e0c491ae049c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853ada9d7c401c" /><Relationship Type="http://schemas.openxmlformats.org/officeDocument/2006/relationships/notesMaster" Target="/ppt/notesMasters/notesMaster1.xml" Id="Rb23c609b89b746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微博上也发过这个阿里的论文，大模型会带来技术债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f6ec333f84c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2a18c7c33342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e342ed4f944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7e12ac0a824f4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f93c5cb51942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054393962407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d3b6eb0c144d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6a008b1c3b4e55" /></Relationships>
</file>

<file path=ppt/slideLayouts/slideLayout1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FF0E93F4-E463-47EC-8E1B-814589E6D2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anchor="ctr"/>
          <a:lstStyle xmlns:a="http://schemas.openxmlformats.org/drawingml/2006/main">
            <a:lvl1pPr marL="8255" indent="0">
              <a:buNone/>
              <a:defRPr sz="2670" b="1">
                <a:solidFill>
                  <a:schemeClr val="accent6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7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59EA625-BACF-4645-B733-9BAD24EBFB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4000" y="1080000"/>
            <a:ext cx="10922540" cy="4869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52095" indent="-252095">
              <a:lnSpc>
                <a:spcPct val="120000"/>
              </a:lnSpc>
              <a:spcBef>
                <a:spcPts val="600"/>
              </a:spcBef>
              <a:buNone/>
              <a:defRPr sz="1400" b="0" i="0">
                <a:solidFill>
                  <a:schemeClr val="accent6"/>
                </a:solidFill>
                <a:latin typeface="微软雅黑"/>
                <a:ea typeface="微软雅黑"/>
                <a:cs typeface="微软雅黑"/>
              </a:defRPr>
            </a:lvl1pPr>
            <a:lvl2pPr marL="691515" indent="-234315">
              <a:lnSpc>
                <a:spcPct val="120000"/>
              </a:lnSpc>
              <a:spcBef>
                <a:spcPts val="600"/>
              </a:spcBef>
              <a:buChar char="•"/>
              <a:defRPr sz="1400" b="0" i="0">
                <a:solidFill>
                  <a:schemeClr val="accent6"/>
                </a:solidFill>
                <a:latin typeface="微软雅黑"/>
                <a:ea typeface="微软雅黑"/>
                <a:cs typeface="微软雅黑"/>
              </a:defRPr>
            </a:lvl2pPr>
            <a:lvl3pPr>
              <a:lnSpc>
                <a:spcPct val="150000"/>
              </a:lnSpc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>
              <a:lnSpc>
                <a:spcPct val="150000"/>
              </a:lnSpc>
              <a:buNone/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>
              <a:lnSpc>
                <a:spcPct val="150000"/>
              </a:lnSpc>
              <a:buNone/>
              <a:defRPr b="0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/>
                <a:ea typeface="Microsoft YaHei Light"/>
                <a:cs typeface="Microsoft YaHei Light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7E74DF0E-463F-4619-9C6D-F1435F99C9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anchor="ctr"/>
          <a:lstStyle xmlns:a="http://schemas.openxmlformats.org/drawingml/2006/main">
            <a:lvl1pPr marL="8255" indent="0">
              <a:buNone/>
              <a:defRPr sz="2670" b="1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76944540-5CAB-46B7-BF7B-ABC298A909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anchor="ctr"/>
          <a:lstStyle xmlns:a="http://schemas.openxmlformats.org/drawingml/2006/main">
            <a:lvl1pPr marL="8255" indent="0">
              <a:buNone/>
              <a:defRPr sz="2670" b="1">
                <a:solidFill>
                  <a:schemeClr val="accent6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E9DBE07-4E8A-48B1-9A88-FD2DDEF87B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anchor="ctr"/>
          <a:lstStyle xmlns:a="http://schemas.openxmlformats.org/drawingml/2006/main">
            <a:lvl1pPr marL="8255" indent="0">
              <a:buNone/>
              <a:defRPr sz="2670" b="1">
                <a:solidFill>
                  <a:schemeClr val="accent6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53A61A9-E27D-48BC-8FC6-8FE4969A2F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anchor="ctr"/>
          <a:lstStyle xmlns:a="http://schemas.openxmlformats.org/drawingml/2006/main">
            <a:lvl1pPr marL="8255" indent="0">
              <a:buNone/>
              <a:defRPr sz="2670" b="1">
                <a:solidFill>
                  <a:schemeClr val="accent6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10C13E39-6F7F-4E0D-9310-23C6C33005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anchor="ctr"/>
          <a:lstStyle xmlns:a="http://schemas.openxmlformats.org/drawingml/2006/main">
            <a:lvl1pPr marL="8255" indent="0">
              <a:buNone/>
              <a:defRPr sz="2670" b="1">
                <a:solidFill>
                  <a:schemeClr val="accent6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DD87AE92-0570-45E3-86D7-BAD1BD266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anchor="ctr"/>
          <a:lstStyle xmlns:a="http://schemas.openxmlformats.org/drawingml/2006/main">
            <a:lvl1pPr marL="8255" indent="0">
              <a:buNone/>
              <a:defRPr sz="2670" b="1">
                <a:solidFill>
                  <a:schemeClr val="accent6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06E701C-7647-40DE-9426-83A7687B859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24000" y="1080000"/>
            <a:ext cx="10922540" cy="48699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252095" indent="-252095">
              <a:lnSpc>
                <a:spcPct val="120000"/>
              </a:lnSpc>
              <a:spcBef>
                <a:spcPts val="600"/>
              </a:spcBef>
              <a:buNone/>
              <a:defRPr sz="1400" b="0" i="0">
                <a:solidFill>
                  <a:schemeClr val="accent6"/>
                </a:solidFill>
                <a:latin typeface="微软雅黑"/>
                <a:ea typeface="微软雅黑"/>
                <a:cs typeface="微软雅黑"/>
              </a:defRPr>
            </a:lvl1pPr>
            <a:lvl2pPr marL="691515" indent="-234315">
              <a:lnSpc>
                <a:spcPct val="120000"/>
              </a:lnSpc>
              <a:spcBef>
                <a:spcPts val="600"/>
              </a:spcBef>
              <a:buChar char="•"/>
              <a:defRPr sz="1400" b="0" i="0">
                <a:solidFill>
                  <a:schemeClr val="accent6"/>
                </a:solidFill>
                <a:latin typeface="微软雅黑"/>
                <a:ea typeface="微软雅黑"/>
                <a:cs typeface="微软雅黑"/>
              </a:defRPr>
            </a:lvl2pPr>
            <a:lvl3pPr>
              <a:lnSpc>
                <a:spcPct val="150000"/>
              </a:lnSpc>
              <a:buNone/>
              <a:defRPr sz="16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3pPr>
            <a:lvl4pPr>
              <a:lnSpc>
                <a:spcPct val="150000"/>
              </a:lnSpc>
              <a:buNone/>
              <a:defRPr sz="1200" b="0" i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4pPr>
            <a:lvl5pPr>
              <a:lnSpc>
                <a:spcPct val="150000"/>
              </a:lnSpc>
              <a:buNone/>
              <a:defRPr b="0" i="0">
                <a:solidFill>
                  <a:schemeClr val="tx1">
                    <a:lumMod val="85000"/>
                    <a:lumOff val="15000"/>
                  </a:schemeClr>
                </a:solidFill>
                <a:latin typeface="Microsoft YaHei Light"/>
                <a:ea typeface="Microsoft YaHei Light"/>
                <a:cs typeface="Microsoft YaHei Light"/>
              </a:defRPr>
            </a:lvl5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</p:txBody>
      </p:sp>
      <p:sp>
        <p:nvSpPr>
          <p:cNvPr id="4" name="标题 1">
            <a:extLst xmlns:a="http://schemas.openxmlformats.org/drawingml/2006/main">
              <a:ext uri="{FF2B5EF4-FFF2-40B4-BE49-F238E27FC236}">
                <a16:creationId xmlns:a16="http://schemas.microsoft.com/office/drawing/2014/main" id="{59E40AEE-0258-4DA5-97D3-223E66ACA7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0000" anchor="ctr"/>
          <a:lstStyle xmlns:a="http://schemas.openxmlformats.org/drawingml/2006/main">
            <a:lvl1pPr marL="8255" indent="0">
              <a:buNone/>
              <a:defRPr sz="2670" b="1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b7bb74e9ea493a" /><Relationship Type="http://schemas.openxmlformats.org/officeDocument/2006/relationships/slideLayout" Target="/ppt/slideLayouts/slideLayout1.xml" Id="R0bb6c1e04e184ec6" /><Relationship Type="http://schemas.openxmlformats.org/officeDocument/2006/relationships/slideLayout" Target="/ppt/slideLayouts/slideLayout2.xml" Id="R4e4422e43a1f4989" /><Relationship Type="http://schemas.openxmlformats.org/officeDocument/2006/relationships/slideLayout" Target="/ppt/slideLayouts/slideLayout3.xml" Id="R92fde686148c41b6" /><Relationship Type="http://schemas.openxmlformats.org/officeDocument/2006/relationships/slideLayout" Target="/ppt/slideLayouts/slideLayout4.xml" Id="R5922d4773d0e4ebd" /><Relationship Type="http://schemas.openxmlformats.org/officeDocument/2006/relationships/slideLayout" Target="/ppt/slideLayouts/slideLayout5.xml" Id="R8d3db1e30cd3458a" /><Relationship Type="http://schemas.openxmlformats.org/officeDocument/2006/relationships/slideLayout" Target="/ppt/slideLayouts/slideLayout6.xml" Id="Rbf7f452cc4bd431a" /><Relationship Type="http://schemas.openxmlformats.org/officeDocument/2006/relationships/slideLayout" Target="/ppt/slideLayouts/slideLayout7.xml" Id="R46bc2a3fa36f4476" /><Relationship Type="http://schemas.openxmlformats.org/officeDocument/2006/relationships/slideLayout" Target="/ppt/slideLayouts/slideLayout8.xml" Id="R53330666207644d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直接连接符 53">
            <a:extLst xmlns:a="http://schemas.openxmlformats.org/drawingml/2006/main">
              <a:ext uri="{FF2B5EF4-FFF2-40B4-BE49-F238E27FC236}">
                <a16:creationId xmlns:a16="http://schemas.microsoft.com/office/drawing/2014/main" id="{2F7E640D-B717-4AC4-B2E0-92DAF6FE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679508" y="936308"/>
            <a:ext cx="10177131" cy="3048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E11F1D"/>
          </a:solidFill>
          <a:ln xmlns:a="http://schemas.openxmlformats.org/drawingml/2006/main" w="6350">
            <a:solidFill>
              <a:srgbClr val="E11F1D"/>
            </a:solidFill>
            <a:prstDash val="solid"/>
          </a:ln>
        </p:spPr>
        <p:txBody>
          <a:bodyPr xmlns:a="http://schemas.openxmlformats.org/drawingml/2006/main" wrap="square" lIns="60957" tIns="60957" rIns="60957" bIns="60957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3" name="矩形 54">
            <a:extLst xmlns:a="http://schemas.openxmlformats.org/drawingml/2006/main">
              <a:ext uri="{FF2B5EF4-FFF2-40B4-BE49-F238E27FC236}">
                <a16:creationId xmlns:a16="http://schemas.microsoft.com/office/drawing/2014/main" id="{7A84A58B-3AF2-47A7-838A-7DDE9EFA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35360" y="924116"/>
            <a:ext cx="4164800" cy="60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1F1D"/>
          </a:solidFill>
          <a:ln xmlns:a="http://schemas.openxmlformats.org/drawingml/2006/main" w="12700">
            <a:solidFill>
              <a:srgbClr val="E11F1D"/>
            </a:solidFill>
            <a:prstDash val="solid"/>
          </a:ln>
        </p:spPr>
        <p:txBody>
          <a:bodyPr xmlns:a="http://schemas.openxmlformats.org/drawingml/2006/main" wrap="square" lIns="60957" tIns="60957" rIns="60957" bIns="60957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E6BAD0E-181E-8D61-091B-BD66AB28AE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b6c1e04e184ec6"/>
    <p:sldLayoutId xmlns:r="http://schemas.openxmlformats.org/officeDocument/2006/relationships" id="2147483650" r:id="R4e4422e43a1f4989"/>
    <p:sldLayoutId xmlns:r="http://schemas.openxmlformats.org/officeDocument/2006/relationships" id="2147483651" r:id="R92fde686148c41b6"/>
    <p:sldLayoutId xmlns:r="http://schemas.openxmlformats.org/officeDocument/2006/relationships" id="2147483652" r:id="R5922d4773d0e4ebd"/>
    <p:sldLayoutId xmlns:r="http://schemas.openxmlformats.org/officeDocument/2006/relationships" id="2147483653" r:id="R8d3db1e30cd3458a"/>
    <p:sldLayoutId xmlns:r="http://schemas.openxmlformats.org/officeDocument/2006/relationships" id="2147483654" r:id="Rbf7f452cc4bd431a"/>
    <p:sldLayoutId xmlns:r="http://schemas.openxmlformats.org/officeDocument/2006/relationships" id="2147483655" r:id="R46bc2a3fa36f4476"/>
    <p:sldLayoutId xmlns:r="http://schemas.openxmlformats.org/officeDocument/2006/relationships" id="2147483656" r:id="R53330666207644de"/>
  </p:sldLayoutIdLst>
  <p:hf hdr="0" dt="0"/>
  <p:txStyles>
    <p:titleStyle>
      <a:lvl1pPr xmlns:a="http://schemas.openxmlformats.org/drawingml/2006/main" algn="l">
        <a:buNone/>
        <a:defRPr sz="3200">
          <a:solidFill>
            <a:schemeClr val="tx1"/>
          </a:solidFill>
          <a:latin typeface="华文楷体"/>
          <a:ea typeface="华文楷体"/>
          <a:cs typeface="华文楷体"/>
        </a:defRPr>
      </a:lvl1pPr>
    </p:titleStyle>
    <p:bodyStyle>
      <a:lvl1pPr xmlns:a="http://schemas.openxmlformats.org/drawingml/2006/main" marL="457200" indent="-457200" algn="l">
        <a:buChar char="•"/>
        <a:defRPr sz="4265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990600" indent="-381000" algn="l">
        <a:buChar char="–"/>
        <a:defRPr sz="3735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524000" indent="-3048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133600" indent="-304800" algn="l">
        <a:buChar char="–"/>
        <a:defRPr sz="2665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743200" indent="-304800" algn="l">
        <a:buChar char="»"/>
        <a:defRPr sz="2665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352800" indent="-304800" algn="l">
        <a:buChar char="•"/>
        <a:defRPr sz="2665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962400" indent="-304800" algn="l">
        <a:buChar char="•"/>
        <a:defRPr sz="2665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571365" indent="-304800" algn="l">
        <a:buChar char="•"/>
        <a:defRPr sz="2665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180965" indent="-304800" algn="l">
        <a:buChar char="•"/>
        <a:defRPr sz="2665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09600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219200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828800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438400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048000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657600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266565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4876165" algn="l">
        <a:buNone/>
        <a:defRPr sz="24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模板-宽屏16：10 - TEST">
  <a:themeElements>
    <a:clrScheme name="自定义 1">
      <a:dk1>
        <a:srgbClr val="000000"/>
      </a:dk1>
      <a:lt1>
        <a:sysClr val="window" lastClr="FFFFFF"/>
      </a:lt1>
      <a:dk2>
        <a:srgbClr val="000000"/>
      </a:dk2>
      <a:lt2>
        <a:srgbClr val="707276"/>
      </a:lt2>
      <a:accent1>
        <a:srgbClr val="FFE171"/>
      </a:accent1>
      <a:accent2>
        <a:srgbClr val="76E0A3"/>
      </a:accent2>
      <a:accent3>
        <a:srgbClr val="5CACE2"/>
      </a:accent3>
      <a:accent4>
        <a:srgbClr val="AD77C3"/>
      </a:accent4>
      <a:accent5>
        <a:srgbClr val="A2ABAC"/>
      </a:accent5>
      <a:accent6>
        <a:srgbClr val="000000"/>
      </a:accent6>
      <a:hlink>
        <a:srgbClr val="2487CA"/>
      </a:hlink>
      <a:folHlink>
        <a:srgbClr val="1BC7A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ca26788b214cad" /><Relationship Type="http://schemas.openxmlformats.org/officeDocument/2006/relationships/image" Target="/ppt/media/image.png" Id="R36c816eb28104c7a" /><Relationship Type="http://schemas.openxmlformats.org/officeDocument/2006/relationships/notesSlide" Target="/ppt/notesSlides/notesSlide1.xml" Id="Rbc309a8ee52240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91003fdcb4ae0" /><Relationship Type="http://schemas.openxmlformats.org/officeDocument/2006/relationships/notesSlide" Target="/ppt/notesSlides/notesSlide2.xml" Id="R8eae1821fab24c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c142ad721347c8" /><Relationship Type="http://schemas.openxmlformats.org/officeDocument/2006/relationships/notesSlide" Target="/ppt/notesSlides/notesSlide3.xml" Id="R1431f0dfc09545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4ba6788d864dd6" /><Relationship Type="http://schemas.openxmlformats.org/officeDocument/2006/relationships/notesSlide" Target="/ppt/notesSlides/notesSlide4.xml" Id="R21c13eeb916b4b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dec7803ae1409e" /><Relationship Type="http://schemas.openxmlformats.org/officeDocument/2006/relationships/notesSlide" Target="/ppt/notesSlides/notesSlide5.xml" Id="R6b75691ee19347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f0b786a04043a0" /><Relationship Type="http://schemas.openxmlformats.org/officeDocument/2006/relationships/notesSlide" Target="/ppt/notesSlides/notesSlide6.xml" Id="R0065fcd88e7649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a74c84ede8df4894" /><Relationship Type="http://schemas.openxmlformats.org/officeDocument/2006/relationships/hyperlink" Target="https://gitlab.weibo.cn/oasis/api/-/blob/master/AGENTS.md" TargetMode="External" Id="R83ab85e45daa4832" /><Relationship Type="http://schemas.openxmlformats.org/officeDocument/2006/relationships/notesSlide" Target="/ppt/notesSlides/notesSlide7.xml" Id="Re46fe5cf9d4844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94cb525afeb545c3" /><Relationship Type="http://schemas.openxmlformats.org/officeDocument/2006/relationships/hyperlink" Target="https://gitlab.weibo.cn/oasis/api/-/blob/master/AGENTS.md" TargetMode="External" Id="R701d8aa460a7425d" /><Relationship Type="http://schemas.openxmlformats.org/officeDocument/2006/relationships/notesSlide" Target="/ppt/notesSlides/notesSlide8.xml" Id="Ra9ba3c4df4614f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41de9002de4536" /><Relationship Type="http://schemas.openxmlformats.org/officeDocument/2006/relationships/notesSlide" Target="/ppt/notesSlides/notesSlide9.xml" Id="R9831c9fd1fde41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a5e3b26a694c9a" /><Relationship Type="http://schemas.openxmlformats.org/officeDocument/2006/relationships/notesSlide" Target="/ppt/notesSlides/notesSlide10.xml" Id="R408e66b749824c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c21f236e2d4d5e" /><Relationship Type="http://schemas.openxmlformats.org/officeDocument/2006/relationships/notesSlide" Target="/ppt/notesSlides/notesSlide11.xml" Id="R8e684fbf56ff4b5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f1e0583ab444ad5" /><Relationship Type="http://schemas.openxmlformats.org/officeDocument/2006/relationships/notesSlide" Target="/ppt/notesSlides/notesSlide12.xml" Id="R905b2bb24ca1417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5202eb0ce544fc" /><Relationship Type="http://schemas.openxmlformats.org/officeDocument/2006/relationships/notesSlide" Target="/ppt/notesSlides/notesSlide13.xml" Id="R5498cb280647481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C6C245-E6D0-2821-2AA8-E5E391652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  <a:r>
              <a:rPr sz="1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58799BE-8E82-97EF-8388-12772352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156138"/>
            <a:ext cx="11572861" cy="44034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60000"/>
              </a:lnSpc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60000"/>
              </a:lnSpc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60000"/>
              </a:lnSpc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ct val="160000"/>
              </a:lnSpc>
              <a:buNone/>
            </a:pPr>
            <a:r>
              <a:rPr sz="4000"/>
              <a:t>Buddy：双 AI Agent 协作编码平台</a:t>
            </a:r>
          </a:p>
        </p:txBody>
      </p:sp>
      <p:pic>
        <p:nvPicPr>
          <p:cNvPr id="7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816eb28104c7a"/>
          <a:stretch xmlns:a="http://schemas.openxmlformats.org/drawingml/2006/main"/>
        </p:blipFill>
        <p:spPr>
          <a:xfrm xmlns:a="http://schemas.openxmlformats.org/drawingml/2006/main">
            <a:off x="4781296" y="1628781"/>
            <a:ext cx="2629408" cy="26294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1624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706356-EB6A-5162-9F9E-574CDEEC0B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为什么需要 Buddy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B58C2F85-0297-07D8-2385-CC14AA4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49238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单个 AI 编码助手通常停在“写完代码”，审查、验证和收尾仍然压回给人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复杂任务很少一次完成，模型容易在长上下文里跑偏、重复犯错或草率宣布完成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Claude、Codex、OpenCode、Kimi 各有优势，但单工具很难把它们放进同一条任务流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Buddy 要解决的不是“再造一个模型”，而是把现有 AI 工具编排成可恢复、可审计、可收敛的工作流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最终目标是让工程师从盯全流程，转向定义目标、校准方向和验收关键结果</a:t>
            </a:r>
          </a:p>
        </p:txBody>
      </p:sp>
    </p:spTree>
    <p:extLst>
      <p:ext uri="{BB962C8B-B14F-4D97-AF65-F5344CB8AC3E}">
        <p14:creationId xmlns:p14="http://schemas.microsoft.com/office/powerpoint/2010/main" val="42275643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3886FB2-A4DD-516B-4B55-7246F3B46F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核心判断：研发不是生成代码，而是收敛任务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CB27B815-0E0A-0FB3-0330-B90AFB55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代码生成只是第一步，真正耗时的是理解需求、处理边界、修复回归、补齐验证和完成交付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Buddy 把“实现”和“审查”拆成两个 AI Actor，让它们围绕同一任务多轮交替推进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人保留最终判断权，但不再需要守着每一轮细节，而是在关键窗口介入校准</a:t>
            </a:r>
          </a:p>
        </p:txBody>
      </p:sp>
    </p:spTree>
    <p:extLst>
      <p:ext uri="{BB962C8B-B14F-4D97-AF65-F5344CB8AC3E}">
        <p14:creationId xmlns:p14="http://schemas.microsoft.com/office/powerpoint/2010/main" val="26643006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363C89-EC77-9531-D662-04D7674AED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Buddy 补的是单 Agent 工具的结构性盲区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5767D79-2924-44ED-A3DF-60164F3D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44500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1600"/>
              <a:t>AI 写完即结束：缺少内建审查闭环，问题往往到人工 Review 才暴露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1600"/>
              <a:t>长任务一断就废：终端会话不可恢复，状态、轮次和失败原因难以复盘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1600"/>
              <a:t>模型能力被绑死：很难低成本组合“A 模型实现 + B 模型审查”的优势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1600"/>
              <a:t>黑盒不可审计：不知道经历了几轮、为何修改、在哪里失败、是否真的达成共识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1600"/>
              <a:t>Buddy 用状态机、事件流、双确认和 CLI 适配层，把这些能力产品化</a:t>
            </a:r>
          </a:p>
        </p:txBody>
      </p:sp>
    </p:spTree>
    <p:extLst>
      <p:ext uri="{BB962C8B-B14F-4D97-AF65-F5344CB8AC3E}">
        <p14:creationId xmlns:p14="http://schemas.microsoft.com/office/powerpoint/2010/main" val="32207046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9746B36-D877-6763-4F7B-D3343478FD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协作机制：实现、审查、校准、再推进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35EE66D-3EF9-BF89-2862-165F78FD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Implementer 负责实现代码、修复问题；Reviewer 负责检查产出、指出风险或确认通过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每轮 Actor 输出都会沉淀到 transcript 和 events，下一轮可基于真实历史继续推进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Dual-break 是收尾闸门：必须双方都发出 type=break，任务才会进入 DONE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任务失败不是终点，FAILED 可恢复到 PAUSED；应用重启后 RUNNING 状态会重置为可继续处理的暂停态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指令队列允许人在运行中追加约束，轮次结束后自动带入下一步</a:t>
            </a:r>
          </a:p>
        </p:txBody>
      </p:sp>
    </p:spTree>
    <p:extLst>
      <p:ext uri="{BB962C8B-B14F-4D97-AF65-F5344CB8AC3E}">
        <p14:creationId xmlns:p14="http://schemas.microsoft.com/office/powerpoint/2010/main" val="16521286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699CAB7-F11D-E5DE-B88A-6BA800FA43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工程落地：Electron 内置 TypeScript Buddy Core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AF4ED6D6-1691-D2D7-A73F-B609BA1A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3749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三进程架构：React renderer 只负责展示，preload 暴露窄 IPC，main process 承担文件、进程和状态机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BuddyCoreService 组合 Store、Runner、EventBus：持久化、子进程调度和事件推送各自清晰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纯文件系统数据模型，无数据库；JSON 写入统一采用 .tmp → rename，读取时用 Zod 校验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Actor launcher 同时支持原生 CLI 和契约命令，能统一编排 Claude / Codex / OpenCode / Kimi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API key 在事件落盘前自动脱敏，运行过程可观察、可复盘、可迁移</a:t>
            </a:r>
          </a:p>
        </p:txBody>
      </p:sp>
    </p:spTree>
    <p:extLst>
      <p:ext uri="{BB962C8B-B14F-4D97-AF65-F5344CB8AC3E}">
        <p14:creationId xmlns:p14="http://schemas.microsoft.com/office/powerpoint/2010/main" val="26384211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44613E-8535-4212-7736-38E2FBBF7C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一套编排层覆盖四类核心能力</a:t>
            </a:r>
          </a:p>
        </p:txBody>
      </p:sp>
      <p:graphicFrame>
        <p:nvGraphicFramePr>
          <p:cNvPr id="9" name="表格 4"/>
          <p:cNvGraphicFramePr/>
          <p:nvPr/>
        </p:nvGraphicFramePr>
        <p:xfrm>
          <a:off xmlns:a="http://schemas.openxmlformats.org/drawingml/2006/main" x="335360" y="1191512"/>
          <a:ext xmlns:a="http://schemas.openxmlformats.org/drawingml/2006/main" cx="10359956" cy="486999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11218"/>
                <a:gridCol w="3348738"/>
              </a:tblGrid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能力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Buddy 的实现方式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双 Actor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实现方 + 审查方轮流推进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双确认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双方 break 后才 DONE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跨模型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Claude / Codex / OpenCode / Kimi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续跑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--resume / resume / --session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恢复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RUNNING 重启后转 PAUSED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指令队列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运行中追加，下一轮执行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Git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diff / commit / push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留痕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events / transcript / state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安全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脱敏、原子写、Zod 读校验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本地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文件系统持久化，兼容前代数据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66D293E-C741-7851-83EC-56C0CAE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6394007"/>
            <a:ext cx="1039688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hlinkClick xmlns:r="http://schemas.openxmlformats.org/officeDocument/2006/relationships" r:id="R83ab85e45daa4832"/>
              </a:rPr>
              <a:t>能力来自 README、AGENTS.md 与 TypeScript Buddy Core 设计</a:t>
            </a:r>
          </a:p>
        </p:txBody>
      </p:sp>
    </p:spTree>
    <p:extLst>
      <p:ext uri="{BB962C8B-B14F-4D97-AF65-F5344CB8AC3E}">
        <p14:creationId xmlns:p14="http://schemas.microsoft.com/office/powerpoint/2010/main" val="6755299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344613E-8535-4212-7736-38E2FBBF7C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5360" y="260648"/>
            <a:ext cx="9793088" cy="576064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r>
              <a:t>真实运行数据说明 Buddy 能持续闭环</a:t>
            </a:r>
          </a:p>
        </p:txBody>
      </p:sp>
      <p:graphicFrame>
        <p:nvGraphicFramePr>
          <p:cNvPr id="9" name="表格 4"/>
          <p:cNvGraphicFramePr/>
          <p:nvPr/>
        </p:nvGraphicFramePr>
        <p:xfrm>
          <a:off xmlns:a="http://schemas.openxmlformats.org/drawingml/2006/main" x="335360" y="1191512"/>
          <a:ext xmlns:a="http://schemas.openxmlformats.org/drawingml/2006/main" cx="10359956" cy="4869997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011218"/>
                <a:gridCol w="3348738"/>
              </a:tblGrid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指标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实际结果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累计任务数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405 个任务，覆盖 22 个工作区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完成任务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381 个 DONE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任务完成率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94.1%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失败任务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19 个 FAILED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累计协作轮次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4488 轮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单任务平均收敛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11.1 轮 / DONE 任务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平均端到端时长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211.5 分钟 / DONE 任务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上下文压缩重置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21 次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日均吞吐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34 个活跃日，11.9 个任务 / 活跃日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427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Courier New"/>
                          <a:ea typeface="Courier New"/>
                          <a:cs typeface="Courier New"/>
                        </a:rPr>
                        <a:t>Actor 使用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2100" b="0" i="0" u="none">
                          <a:latin typeface="Arial"/>
                          <a:ea typeface="Arial"/>
                          <a:cs typeface="Arial"/>
                        </a:rPr>
                        <a:t>Claude 178，OpenCode 120，Codex 94，Kimi 13</a:t>
                      </a:r>
                    </a:p>
                  </a:txBody>
                  <a:tcPr marL="87151" marR="87151" marT="43575" marB="43575">
                    <a:lnL w="9525" cmpd="sng">
                      <a:solidFill>
                        <a:srgbClr val="000000"/>
                      </a:solidFill>
                      <a:prstDash val="solid"/>
                    </a:lnL>
                    <a:lnR w="9525" cmpd="sng">
                      <a:solidFill>
                        <a:srgbClr val="000000"/>
                      </a:solidFill>
                      <a:prstDash val="solid"/>
                    </a:lnR>
                    <a:lnT w="9525" cmpd="sng">
                      <a:solidFill>
                        <a:srgbClr val="000000"/>
                      </a:solidFill>
                      <a:prstDash val="solid"/>
                    </a:lnT>
                    <a:lnB w="9525" cmpd="sng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266D293E-C741-7851-83EC-56C0CAE6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6394007"/>
            <a:ext cx="10396885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hlinkClick xmlns:r="http://schemas.openxmlformats.org/officeDocument/2006/relationships" r:id="R701d8aa460a7425d"/>
              </a:rPr>
              <a:t>统计口径：node scripts/buddy-stats.mjs，任务记录截至 2026-07-06</a:t>
            </a:r>
          </a:p>
        </p:txBody>
      </p:sp>
    </p:spTree>
    <p:extLst>
      <p:ext uri="{BB962C8B-B14F-4D97-AF65-F5344CB8AC3E}">
        <p14:creationId xmlns:p14="http://schemas.microsoft.com/office/powerpoint/2010/main" val="675529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AE8C72-A93B-8A9E-4AC3-87498A220E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质量不是靠信任模型，而是靠工程闸门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47BF1A1-C00E-844E-81D9-54F80CFC8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49947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t>状态机只接受合法迁移，Runner 不信任 renderer 传来的任务状态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t>每次状态变化都先从磁盘重读、加锁、验证、写回，再发布事件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t>单方 break 只记录 pending_break，不会让任务提前 DONE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t>失败会记录 latest_failure，并按失败策略进入 FAILED 或 PAUSED</a:t>
            </a:r>
          </a:p>
          <a:p xmlns:a="http://schemas.openxmlformats.org/drawingml/2006/main">
            <a:pPr marL="800100" indent="-342900">
              <a:lnSpc>
                <a:spcPct val="200000"/>
              </a:lnSpc>
              <a:buChar char="•"/>
            </a:pPr>
            <a:r>
              <a:t>事件、对话和产物分开保存，方便回放问题、审计决策和提炼复用经验</a:t>
            </a:r>
          </a:p>
          <a:p xmlns:a="http://schemas.openxmlformats.org/drawingml/2006/main">
            <a:pPr marL="800100" indent="-342900">
              <a:lnSpc>
                <a:spcPct val="200000"/>
              </a:lnSpc>
              <a:buChar char="•"/>
            </a:pPr>
            <a:r>
              <a:t>Git 动作保持本地可审，人在提交与推送前仍能检查 diff</a:t>
            </a:r>
          </a:p>
        </p:txBody>
      </p:sp>
    </p:spTree>
    <p:extLst>
      <p:ext uri="{BB962C8B-B14F-4D97-AF65-F5344CB8AC3E}">
        <p14:creationId xmlns:p14="http://schemas.microsoft.com/office/powerpoint/2010/main" val="1066580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94E754F-F6EE-1CAD-60C3-A0FF9A53A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它和 Cursor、Claude Code 不是一个抽象层级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90232C5-22C1-52DF-6A7C-6A9DF93F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3139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单 Agent 工具擅长一次会话里的编码互动，Buddy 负责跨会话、跨模型、跨轮次的任务编排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Cursor / Claude Code 是“更聪明的执行者”，Buddy 更像“协作导演”和“工作流引擎”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它不替代底层模型，也不替代人工判断；它把模型能力放进有状态、有记录、有收尾规则的过程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复杂、长周期、需要质量收敛的任务最适合 Buddy；简单一次性改动仍然可以直接用单 Agent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因此 Buddy 的价值不在多写几行代码，而在减少返工、降低盯守成本、提升可复盘性</a:t>
            </a:r>
          </a:p>
        </p:txBody>
      </p:sp>
    </p:spTree>
    <p:extLst>
      <p:ext uri="{BB962C8B-B14F-4D97-AF65-F5344CB8AC3E}">
        <p14:creationId xmlns:p14="http://schemas.microsoft.com/office/powerpoint/2010/main" val="6754831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22C135-D34B-6A1B-09FA-DE04F9BF6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推广价值：低部署、开放协议、可自证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05D1689-86F7-0F41-D41F-2E1483FD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3139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零后端依赖：DMG 安装即可使用，数据落在本机文件系统，不增加团队运维负担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协议开放：契约模式通过 BUDDY_ACTOR、BUDDY_MODE 等环境变量接入新工具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跨语言适配：中简 / 中繁 / 英文，CJK 自动检测，方便不同团队直接使用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数据可自证：每个团队都能跑 scripts/buddy-stats.mjs 统计自己的真实任务记录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推广方式应从复杂任务试点开始，用本地数据和可复盘案例证明收益</a:t>
            </a:r>
          </a:p>
        </p:txBody>
      </p:sp>
    </p:spTree>
    <p:extLst>
      <p:ext uri="{BB962C8B-B14F-4D97-AF65-F5344CB8AC3E}">
        <p14:creationId xmlns:p14="http://schemas.microsoft.com/office/powerpoint/2010/main" val="890995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E9986B3-B86D-3EAA-1E23-3FFDDCBA4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96FDABA7-CC23-8875-FA64-42EE52E2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427356"/>
            <a:ext cx="11384572" cy="3139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Buddy 的核心不是模型能力，而是把模型能力放进可恢复、可审计、可收敛的任务流程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双 Actor 协作把 Review 前置到 AI 之间，让人从全程盯守转向关键校准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94.1% 完成率和 4488 轮真实协作说明，这套机制已经能持续承接复杂开发任务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它最适合长周期、多轮修复、需要质量收敛的工作；最终架构判断和业务验收仍然由人负责</a:t>
            </a:r>
          </a:p>
          <a:p xmlns:a="http://schemas.openxmlformats.org/drawingml/2006/main">
            <a:pPr marL="342900" indent="-342900">
              <a:lnSpc>
                <a:spcPct val="200000"/>
              </a:lnSpc>
              <a:buChar char="•"/>
            </a:pPr>
            <a:r>
              <a:rPr sz="2000"/>
              <a:t>一句话：Buddy 不是更聪明的嘴，而是让现有 AI 工具按剧本把整场戏演完</a:t>
            </a:r>
          </a:p>
        </p:txBody>
      </p:sp>
    </p:spTree>
    <p:extLst>
      <p:ext uri="{BB962C8B-B14F-4D97-AF65-F5344CB8AC3E}">
        <p14:creationId xmlns:p14="http://schemas.microsoft.com/office/powerpoint/2010/main" val="201007230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C6C245-E6D0-2821-2AA8-E5E3916526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0">
                <a:solidFill>
                  <a:srgbClr val="FFFFFF"/>
                </a:solidFill>
              </a:defRPr>
            </a:pPr>
            <a:r>
              <a:rPr sz="1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858799BE-8E82-97EF-8388-12772352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156137"/>
            <a:ext cx="11572861" cy="48868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>
            <a:lvl1pPr marL="285750" indent="-285750">
              <a:lnSpc>
                <a:spcPct val="160000"/>
              </a:lnSpc>
              <a:buChar char="•"/>
              <a:defRPr/>
            </a:lvl1pPr>
            <a:lvl2pPr marL="742950" indent="-285750">
              <a:lnSpc>
                <a:spcPct val="160000"/>
              </a:lnSpc>
              <a:buChar char="•"/>
              <a:defRPr/>
            </a:lvl2pPr>
          </a:lstStyle>
          <a:p xmlns:a="http://schemas.openxmlformats.org/drawingml/2006/main">
            <a:pPr marL="0" indent="0" algn="ctr">
              <a:buNone/>
            </a:pPr>
            <a:r>
              <a:rPr sz="600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756699969"/>
      </p:ext>
    </p:extLst>
  </p:cSld>
</p:sld>
</file>

<file path=ppt/theme/theme1.xml><?xml version="1.0" encoding="utf-8"?>
<a:theme xmlns:a="http://schemas.openxmlformats.org/drawingml/2006/main" name="模板-宽屏16：10 - TEST">
  <a:themeElements>
    <a:clrScheme name="自定义 1">
      <a:dk1>
        <a:srgbClr val="000000"/>
      </a:dk1>
      <a:lt1>
        <a:sysClr val="window" lastClr="FFFFFF"/>
      </a:lt1>
      <a:dk2>
        <a:srgbClr val="000000"/>
      </a:dk2>
      <a:lt2>
        <a:srgbClr val="707276"/>
      </a:lt2>
      <a:accent1>
        <a:srgbClr val="FFE171"/>
      </a:accent1>
      <a:accent2>
        <a:srgbClr val="76E0A3"/>
      </a:accent2>
      <a:accent3>
        <a:srgbClr val="5CACE2"/>
      </a:accent3>
      <a:accent4>
        <a:srgbClr val="AD77C3"/>
      </a:accent4>
      <a:accent5>
        <a:srgbClr val="A2ABAC"/>
      </a:accent5>
      <a:accent6>
        <a:srgbClr val="000000"/>
      </a:accent6>
      <a:hlink>
        <a:srgbClr val="2487CA"/>
      </a:hlink>
      <a:folHlink>
        <a:srgbClr val="1BC7A6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2026-07-07T08:46:38.6400000Z</dcterms:created>
  <dcterms:modified xsi:type="dcterms:W3CDTF">2026-07-07T08:46:38.6400000Z</dcterms:modified>
</coreProperties>
</file>